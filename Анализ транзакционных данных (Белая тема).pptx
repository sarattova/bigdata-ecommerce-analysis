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embeddedFontLst>
    <p:embeddedFont>
      <p:font typeface="Montserrat" panose="00000500000000000000" pitchFamily="2" charset="-52"/>
      <p:regular r:id="rId15"/>
      <p:bold r:id="rId16"/>
      <p:italic r:id="rId17"/>
      <p:boldItalic r:id="rId18"/>
    </p:embeddedFont>
    <p:embeddedFont>
      <p:font typeface="Montserrat SemiBold" panose="00000700000000000000" pitchFamily="2" charset="-52"/>
      <p:regular r:id="rId19"/>
      <p:bold r:id="rId20"/>
      <p:italic r:id="rId21"/>
      <p:boldItalic r:id="rId22"/>
    </p:embeddedFont>
    <p:embeddedFont>
      <p:font typeface="Playfair Display" panose="00000500000000000000" pitchFamily="2" charset="-52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37204F-76B3-44CC-880F-17950DE94338}">
  <a:tblStyle styleId="{D137204F-76B3-44CC-880F-17950DE943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1D6D2378-19AA-4AB0-025F-B265E9B7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C8CFD206-9E9B-6EAA-F14A-40F745819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>
            <a:extLst>
              <a:ext uri="{FF2B5EF4-FFF2-40B4-BE49-F238E27FC236}">
                <a16:creationId xmlns:a16="http://schemas.microsoft.com/office/drawing/2014/main" id="{4DFAF99A-7F64-522A-04AE-966AD4B38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053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67325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762000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Министерство науки и высшего образования Российской Федерации Федеральное автономное образовательное учреждение высшего образования «ЮЖНЫЙ ФЕДЕРАЛЬНЫЙ УНИВЕРСИТЕТ» ИНСТИТУТ ВЫСОКИХ ТЕХНОЛОГИЙ И ПЬЕЗОТЕХНИКИ</a:t>
            </a:r>
          </a:p>
        </p:txBody>
      </p:sp>
      <p:sp>
        <p:nvSpPr>
          <p:cNvPr id="87" name="Google Shape;87;p13"/>
          <p:cNvSpPr/>
          <p:nvPr/>
        </p:nvSpPr>
        <p:spPr>
          <a:xfrm>
            <a:off x="571500" y="1047750"/>
            <a:ext cx="11049000" cy="952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95375" y="1295400"/>
            <a:ext cx="10001250" cy="10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Анализ транзакционных данных и бизнес-метрик интернет-магазина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2478285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A05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Итоговый индивидуальный проект по дисциплине «Большие данные»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534025"/>
            <a:ext cx="4276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Выполнил</a:t>
            </a:r>
            <a:r>
              <a:rPr lang="ru-RU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и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753100"/>
            <a:ext cx="42767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Студентк</a:t>
            </a:r>
            <a:r>
              <a:rPr lang="ru-RU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3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курса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6 группы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направления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«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0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информатика</a:t>
            </a:r>
            <a:r>
              <a:rPr lang="en-US" sz="10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»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571499" y="6214549"/>
            <a:ext cx="42767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Саратова Дарья Михайловна</a:t>
            </a:r>
            <a:endParaRPr lang="ru-RU" sz="1050" b="1" i="0" u="none" strike="noStrike" cap="none" dirty="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F172A"/>
                </a:solidFill>
                <a:latin typeface="Montserrat"/>
                <a:sym typeface="Montserrat"/>
              </a:rPr>
              <a:t>Гончарова Дарья Михайловна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9915525" y="5848350"/>
            <a:ext cx="1704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Ростов-на-Дону, 2026</a:t>
            </a:r>
            <a:endParaRPr/>
          </a:p>
        </p:txBody>
      </p:sp>
      <p:pic>
        <p:nvPicPr>
          <p:cNvPr id="2" name="Drawing 178048946">
            <a:extLst>
              <a:ext uri="{FF2B5EF4-FFF2-40B4-BE49-F238E27FC236}">
                <a16:creationId xmlns:a16="http://schemas.microsoft.com/office/drawing/2014/main" id="{2F2AD935-A18F-451F-D04A-1050E7EEBA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9544050" y="2970311"/>
            <a:ext cx="2076450" cy="20764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FF214D-DC18-81D1-92C4-6214BD8F3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81597" y="3016447"/>
            <a:ext cx="1847781" cy="1697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57275" y="29908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Объемы Data &amp; Масштабирование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914400" y="29908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3438525"/>
            <a:ext cx="46958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современной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125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сфере бизнеса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логи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продаж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содержат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миллионы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транзакций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ежедневно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Стандартные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инструменты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например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, СУБД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одном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узле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или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тем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более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Microsoft Excel)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зависают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теряют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данные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не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способны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обработать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такие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массивы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режиме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реального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времени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29908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Автоматизация аналитики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581775" y="29908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34385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Использование инфраструктуры больших данных позволяет бизнесу автоматизировать построение сложных аналитических срезов (ABC-анализ, расчет временных пиков), предотвращая упущенную выгоду за счет своевременного планирования маркетинга.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57275" y="476250"/>
            <a:ext cx="1109138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Актуальность проекта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33425" y="2162175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Инфраструктура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533650"/>
            <a:ext cx="304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Развернуть отказоустойчивую среду хранения HDFS и подключить движок Apache Spark для распределенных вычислений.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495800" y="2162175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Предобработка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572000" y="2533650"/>
            <a:ext cx="304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Реализовать пайплайн очистки данных, парсинга типов временных меток и фильтрации аномалий на PySpark DataFrame API.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58175" y="2162175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Анализ &amp; ABC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34375" y="2533650"/>
            <a:ext cx="3048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Выполнить расчет аналитических метрик: ABC-анализ по выручке, почасовой трафик продаж и географическое распределение.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2650" y="16097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1212" y="1609725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1609725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057275" y="476250"/>
            <a:ext cx="1109138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Цель и задачи проекта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4771"/>
            <a:ext cx="11049000" cy="266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390650" y="2845296"/>
            <a:ext cx="9839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Эффект длинного хвоста (Закон Парето):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Основную долю выручки интернет-магазина (80%) обеспечивает малая доля уникальных товаров (около 20%), составляющая категорию "А".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390650" y="3542407"/>
            <a:ext cx="9839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Пиковая нагрузка системы: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Покупательская активность имеет выраженные временные интервалы спада и максимальной нагрузки (пиковые утренние/вечерние часы).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90650" y="4239517"/>
            <a:ext cx="9839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Географическая неравномерность: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Географическое распределение объемов заказов имеет асимметричную концентрацию вокруг нескольких ключевых регионов (стран).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786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5757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427285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71550" y="476250"/>
            <a:ext cx="1118139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Выдвигаемые гипотезы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4562"/>
            <a:ext cx="1104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304800" cy="34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17"/>
          <p:cNvGraphicFramePr/>
          <p:nvPr/>
        </p:nvGraphicFramePr>
        <p:xfrm>
          <a:off x="581025" y="2224087"/>
          <a:ext cx="11029950" cy="3124275"/>
        </p:xfrm>
        <a:graphic>
          <a:graphicData uri="http://schemas.openxmlformats.org/drawingml/2006/table">
            <a:tbl>
              <a:tblPr firstRow="1" bandRow="1">
                <a:noFill/>
                <a:tableStyleId>{D137204F-76B3-44CC-880F-17950DE94338}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Имя столбца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Тип данных (Spark)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Описание переменной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Пример значения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InvoiceNo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Уникальный номер транзакции (счета-фактуры)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536365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StockCode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Идентификатор товарной единицы в системе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85123A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Наименование/текстовое описание товара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WHITE HANGING HEART LIGHT-HOLDER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Quantity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Количество единиц товара в транзакции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InvoiceDate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Timestamp (после обработки)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Дата и время совершения покупки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2010-12-01 08:26:00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UnitPrice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Double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Цена товара за единицу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341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581025" y="310515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238375" y="3105150"/>
            <a:ext cx="2486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724400" y="3105150"/>
            <a:ext cx="3781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505825" y="3105150"/>
            <a:ext cx="3105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35528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238375" y="3552825"/>
            <a:ext cx="2486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4724400" y="3552825"/>
            <a:ext cx="3781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8505825" y="3552825"/>
            <a:ext cx="3105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81025" y="400050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238375" y="4000500"/>
            <a:ext cx="2486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724400" y="4000500"/>
            <a:ext cx="3781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8505825" y="4000500"/>
            <a:ext cx="3105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81025" y="444817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238375" y="4448175"/>
            <a:ext cx="2486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724400" y="4448175"/>
            <a:ext cx="3781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505825" y="4448175"/>
            <a:ext cx="3105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81025" y="489585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238375" y="4895850"/>
            <a:ext cx="2486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724400" y="4895850"/>
            <a:ext cx="3781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505825" y="4895850"/>
            <a:ext cx="3105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019175" y="476250"/>
            <a:ext cx="1113139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Описание схемы данных (Schema)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285875"/>
            <a:ext cx="35242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334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43426" y="1533525"/>
            <a:ext cx="31803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Apache Spark (</a:t>
            </a:r>
            <a:r>
              <a:rPr lang="en-US" sz="1350" b="1" i="0" u="none" strike="noStrike" cap="none" dirty="0" err="1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PySpark</a:t>
            </a:r>
            <a:r>
              <a:rPr lang="en-US" sz="1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819150" y="5519142"/>
            <a:ext cx="302895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Движок распределенной обработки In-Memory данных. DataFrame API и SQL-функции для мгновенных агрегаций.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505801" y="1533525"/>
            <a:ext cx="31803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Hadoop HDFS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4581525" y="5519142"/>
            <a:ext cx="302895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Распределенное, масштабируемое и отказоустойчивое файловое хранилище для терабайтных CSV логов транзакций.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268176" y="1533525"/>
            <a:ext cx="318039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Matplotlib &amp; Seaborn</a:t>
            </a:r>
            <a:endParaRPr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8343900" y="5519142"/>
            <a:ext cx="302895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Библиотеки на Python для построения и сохранения высококачественной инфографики из результатов Spark.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04900" y="476250"/>
            <a:ext cx="1104138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Архитектура и стек технологий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7018DE21-6D7F-E9DD-1567-DC7A1132CE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299" y="3061803"/>
            <a:ext cx="2228280" cy="1157661"/>
          </a:xfrm>
          <a:prstGeom prst="rect">
            <a:avLst/>
          </a:prstGeom>
        </p:spPr>
      </p:pic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4AE42A7A-5974-8384-458A-9BAF5DB3F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93" y="3283990"/>
            <a:ext cx="2812300" cy="1004393"/>
          </a:xfrm>
          <a:prstGeom prst="rect">
            <a:avLst/>
          </a:prstGeom>
        </p:spPr>
      </p:pic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92F832CC-B529-79AB-3DD0-F74BEBC9C06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122" t="20159" r="15711" b="16339"/>
          <a:stretch>
            <a:fillRect/>
          </a:stretch>
        </p:blipFill>
        <p:spPr>
          <a:xfrm>
            <a:off x="8886304" y="3209639"/>
            <a:ext cx="2174296" cy="1059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057275" y="32194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Инициализация и Импорт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914400" y="32194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914400" y="366712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Запуск кластера Spark через создание глобального объекта SparkSession.builder. Загрузка данных из реестра CSV с автоматическим распознаванием схемы inferSchema=True.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724650" y="32194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Преобразования типов и Фильтры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581775" y="32194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581775" y="3667125"/>
            <a:ext cx="4695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Конвертация строковой даты через встроенный to_timestamp. Исключение аномалий: строк с отрицательными значениями (Quantity &lt; 0), которые вызваны операциями возвратов.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143000" y="476250"/>
            <a:ext cx="110013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Ход реализации и очистка данных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11049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4452937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С помощью PySpark SQL функции hour() была извлечена часовая компонента из меток транзакций. Основная масса заказов (80%) концентрируется в утренний и дневной период. Рекомендуется планировать рассылки на 10:00-11:00.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57275" y="476250"/>
            <a:ext cx="1109138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Временной анализ активности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110490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34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571500" y="490537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Парето полностью подтвердилась: ~21% ассортимента приносит магазину 80% всех денег. Это ключевые позиции, остатки которых на складах необходимо жестко контролировать в HDFS-пайплайне.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104900" y="476250"/>
            <a:ext cx="1104138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Результаты ABC-анализа выручки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>
          <a:extLst>
            <a:ext uri="{FF2B5EF4-FFF2-40B4-BE49-F238E27FC236}">
              <a16:creationId xmlns:a16="http://schemas.microsoft.com/office/drawing/2014/main" id="{902D317A-3D3C-C965-D76D-75640F3D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1ABC63E-AC04-CD8A-3569-D8BA9D531F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F6971F68-4860-FF6F-38C1-63D1415B81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334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>
            <a:extLst>
              <a:ext uri="{FF2B5EF4-FFF2-40B4-BE49-F238E27FC236}">
                <a16:creationId xmlns:a16="http://schemas.microsoft.com/office/drawing/2014/main" id="{4C6034C2-8A57-F2C0-DF6D-966206CFE305}"/>
              </a:ext>
            </a:extLst>
          </p:cNvPr>
          <p:cNvSpPr txBox="1"/>
          <p:nvPr/>
        </p:nvSpPr>
        <p:spPr>
          <a:xfrm>
            <a:off x="571500" y="4905375"/>
            <a:ext cx="11049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Задача: Идентификация ключевых рынков сбыта для оптимизации логистики.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Метод: Агрегация данных по полю Country с расчетом суммы выручки (</a:t>
            </a:r>
            <a:r>
              <a:rPr lang="ru-RU" sz="1200" b="0" i="1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Quantity</a:t>
            </a: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* </a:t>
            </a:r>
            <a:r>
              <a:rPr lang="ru-RU" sz="1200" b="0" i="1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UnitPrice</a:t>
            </a: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Результат: Основной объем продаж сконцентрирован в Великобритании (около 80-90% выручки). Выявлены вторичные рынки (Германия, Франция), которые показывают стабильный рост.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Бизнес-инсайт: Необходимо сфокусировать маркетинговые усилия на топовых странах и пересмотреть логистические затраты для рынков с минимальной долей выручки.</a:t>
            </a:r>
            <a:endParaRPr dirty="0"/>
          </a:p>
        </p:txBody>
      </p:sp>
      <p:sp>
        <p:nvSpPr>
          <p:cNvPr id="229" name="Google Shape;229;p21">
            <a:extLst>
              <a:ext uri="{FF2B5EF4-FFF2-40B4-BE49-F238E27FC236}">
                <a16:creationId xmlns:a16="http://schemas.microsoft.com/office/drawing/2014/main" id="{093BAF4B-256A-86ED-73AB-EA298325A371}"/>
              </a:ext>
            </a:extLst>
          </p:cNvPr>
          <p:cNvSpPr txBox="1"/>
          <p:nvPr/>
        </p:nvSpPr>
        <p:spPr>
          <a:xfrm>
            <a:off x="1104900" y="506626"/>
            <a:ext cx="1104138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Анализ распределения выручки по странам</a:t>
            </a:r>
            <a:endParaRPr dirty="0"/>
          </a:p>
        </p:txBody>
      </p:sp>
      <p:sp>
        <p:nvSpPr>
          <p:cNvPr id="230" name="Google Shape;230;p21">
            <a:extLst>
              <a:ext uri="{FF2B5EF4-FFF2-40B4-BE49-F238E27FC236}">
                <a16:creationId xmlns:a16="http://schemas.microsoft.com/office/drawing/2014/main" id="{87937940-22A8-021D-73A7-ECCC5959DD31}"/>
              </a:ext>
            </a:extLst>
          </p:cNvPr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C2D38A-E47F-E960-847D-505982E68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624" y="1330570"/>
            <a:ext cx="10040751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5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285875"/>
            <a:ext cx="5381625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34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1057275" y="29908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Технологический стек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914400" y="29908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914400" y="34385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Успешно освоена распределенная среда хранения HDFS и инструменты Apache Spark для отказоустойчивых вычислений. PySpark показал высокую скорость выполнения аналитических выборок по сравнению с традиционными локальными инструментами.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724650" y="2990850"/>
            <a:ext cx="478059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Бизнес-ценность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581775" y="2990850"/>
            <a:ext cx="38100" cy="30480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6581775" y="3438525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Разработанный скрипт автоматизирует расчет ключевых показателей: сегментирование продуктов по выручке (ABC) и определение пиковой часовой нагрузки, что позволяет бизнесу оперативно корректировать маркетинговую стратегию.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143000" y="476250"/>
            <a:ext cx="1100137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Итоги и результаты проекта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1028700"/>
            <a:ext cx="11049000" cy="19050"/>
          </a:xfrm>
          <a:prstGeom prst="rect">
            <a:avLst/>
          </a:prstGeom>
          <a:solidFill>
            <a:srgbClr val="D1A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/>
        </p:nvSpPr>
        <p:spPr>
          <a:xfrm>
            <a:off x="2070497" y="2686050"/>
            <a:ext cx="8051006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 err="1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Спасибо</a:t>
            </a:r>
            <a:r>
              <a:rPr lang="en-US" sz="4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4350" b="1" i="0" u="none" strike="noStrike" cap="none" dirty="0" err="1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за</a:t>
            </a:r>
            <a:r>
              <a:rPr lang="en-US" sz="4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4350" b="1" i="0" u="none" strike="noStrike" cap="none" dirty="0" err="1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внимание</a:t>
            </a:r>
            <a:r>
              <a:rPr lang="en-US" sz="4350" b="1" i="0" u="none" strike="noStrike" cap="none" dirty="0">
                <a:solidFill>
                  <a:srgbClr val="00418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669</Words>
  <Application>Microsoft Office PowerPoint</Application>
  <PresentationFormat>Широкоэкранный</PresentationFormat>
  <Paragraphs>80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Montserrat SemiBold</vt:lpstr>
      <vt:lpstr>Montserrat</vt:lpstr>
      <vt:lpstr>Playfair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Саратова Дарья Михайловна</cp:lastModifiedBy>
  <cp:revision>2</cp:revision>
  <dcterms:modified xsi:type="dcterms:W3CDTF">2026-06-23T18:11:05Z</dcterms:modified>
</cp:coreProperties>
</file>